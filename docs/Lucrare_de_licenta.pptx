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A63F"/>
    <a:srgbClr val="8A3D16"/>
    <a:srgbClr val="0064A0"/>
    <a:srgbClr val="288ABA"/>
    <a:srgbClr val="771D82"/>
    <a:srgbClr val="131D82"/>
    <a:srgbClr val="8CBE42"/>
    <a:srgbClr val="AA0533"/>
    <a:srgbClr val="4C23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195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icescu Sonia" userId="e9879877c78ba2a4" providerId="LiveId" clId="{72AE1645-9529-496D-877A-D8934E63B54F}"/>
    <pc:docChg chg="custSel delSld modSld">
      <pc:chgData name="Miricescu Sonia" userId="e9879877c78ba2a4" providerId="LiveId" clId="{72AE1645-9529-496D-877A-D8934E63B54F}" dt="2026-07-19T10:01:53.882" v="14" actId="2696"/>
      <pc:docMkLst>
        <pc:docMk/>
      </pc:docMkLst>
      <pc:sldChg chg="delSp modSp mod">
        <pc:chgData name="Miricescu Sonia" userId="e9879877c78ba2a4" providerId="LiveId" clId="{72AE1645-9529-496D-877A-D8934E63B54F}" dt="2026-07-19T10:00:12.853" v="7" actId="21"/>
        <pc:sldMkLst>
          <pc:docMk/>
          <pc:sldMk cId="495011795" sldId="256"/>
        </pc:sldMkLst>
        <pc:spChg chg="del mod">
          <ac:chgData name="Miricescu Sonia" userId="e9879877c78ba2a4" providerId="LiveId" clId="{72AE1645-9529-496D-877A-D8934E63B54F}" dt="2026-07-19T10:00:12.853" v="7" actId="21"/>
          <ac:spMkLst>
            <pc:docMk/>
            <pc:sldMk cId="495011795" sldId="256"/>
            <ac:spMk id="4" creationId="{9EA21B83-6E30-019E-FDE8-CB8017CF6F47}"/>
          </ac:spMkLst>
        </pc:spChg>
      </pc:sldChg>
      <pc:sldChg chg="del">
        <pc:chgData name="Miricescu Sonia" userId="e9879877c78ba2a4" providerId="LiveId" clId="{72AE1645-9529-496D-877A-D8934E63B54F}" dt="2026-07-19T10:01:44.513" v="10" actId="2696"/>
        <pc:sldMkLst>
          <pc:docMk/>
          <pc:sldMk cId="2490966992" sldId="257"/>
        </pc:sldMkLst>
      </pc:sldChg>
      <pc:sldChg chg="del">
        <pc:chgData name="Miricescu Sonia" userId="e9879877c78ba2a4" providerId="LiveId" clId="{72AE1645-9529-496D-877A-D8934E63B54F}" dt="2026-07-19T10:01:46.863" v="11" actId="2696"/>
        <pc:sldMkLst>
          <pc:docMk/>
          <pc:sldMk cId="579786967" sldId="258"/>
        </pc:sldMkLst>
      </pc:sldChg>
      <pc:sldChg chg="del">
        <pc:chgData name="Miricescu Sonia" userId="e9879877c78ba2a4" providerId="LiveId" clId="{72AE1645-9529-496D-877A-D8934E63B54F}" dt="2026-07-19T10:01:49.302" v="12" actId="2696"/>
        <pc:sldMkLst>
          <pc:docMk/>
          <pc:sldMk cId="405175191" sldId="259"/>
        </pc:sldMkLst>
      </pc:sldChg>
      <pc:sldChg chg="del">
        <pc:chgData name="Miricescu Sonia" userId="e9879877c78ba2a4" providerId="LiveId" clId="{72AE1645-9529-496D-877A-D8934E63B54F}" dt="2026-07-19T10:01:51.637" v="13" actId="2696"/>
        <pc:sldMkLst>
          <pc:docMk/>
          <pc:sldMk cId="1266887359" sldId="260"/>
        </pc:sldMkLst>
      </pc:sldChg>
      <pc:sldChg chg="del">
        <pc:chgData name="Miricescu Sonia" userId="e9879877c78ba2a4" providerId="LiveId" clId="{72AE1645-9529-496D-877A-D8934E63B54F}" dt="2026-07-19T10:01:53.882" v="14" actId="2696"/>
        <pc:sldMkLst>
          <pc:docMk/>
          <pc:sldMk cId="4081699449" sldId="261"/>
        </pc:sldMkLst>
      </pc:sldChg>
      <pc:sldChg chg="modSp mod">
        <pc:chgData name="Miricescu Sonia" userId="e9879877c78ba2a4" providerId="LiveId" clId="{72AE1645-9529-496D-877A-D8934E63B54F}" dt="2026-07-08T14:36:22.815" v="2" actId="255"/>
        <pc:sldMkLst>
          <pc:docMk/>
          <pc:sldMk cId="78492051" sldId="268"/>
        </pc:sldMkLst>
        <pc:spChg chg="mod">
          <ac:chgData name="Miricescu Sonia" userId="e9879877c78ba2a4" providerId="LiveId" clId="{72AE1645-9529-496D-877A-D8934E63B54F}" dt="2026-07-08T14:36:22.815" v="2" actId="255"/>
          <ac:spMkLst>
            <pc:docMk/>
            <pc:sldMk cId="78492051" sldId="268"/>
            <ac:spMk id="10" creationId="{C46C206E-5BD7-69E6-5BEE-8FA0FC5E16A8}"/>
          </ac:spMkLst>
        </pc:spChg>
      </pc:sldChg>
      <pc:sldChg chg="del">
        <pc:chgData name="Miricescu Sonia" userId="e9879877c78ba2a4" providerId="LiveId" clId="{72AE1645-9529-496D-877A-D8934E63B54F}" dt="2026-07-19T10:00:31.863" v="9" actId="2696"/>
        <pc:sldMkLst>
          <pc:docMk/>
          <pc:sldMk cId="3267096199" sldId="272"/>
        </pc:sldMkLst>
      </pc:sldChg>
      <pc:sldChg chg="del">
        <pc:chgData name="Miricescu Sonia" userId="e9879877c78ba2a4" providerId="LiveId" clId="{72AE1645-9529-496D-877A-D8934E63B54F}" dt="2026-07-19T10:00:26.744" v="8" actId="2696"/>
        <pc:sldMkLst>
          <pc:docMk/>
          <pc:sldMk cId="1981095448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CD987-D5F0-423A-B571-656612AAA3E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4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01" y="5013176"/>
            <a:ext cx="3389343" cy="1296144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8064388" y="5857924"/>
            <a:ext cx="216000" cy="216000"/>
            <a:chOff x="2772000" y="1932221"/>
            <a:chExt cx="2340000" cy="2340000"/>
          </a:xfrm>
        </p:grpSpPr>
        <p:sp>
          <p:nvSpPr>
            <p:cNvPr id="9" name="Rectangle 8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624228" y="5857924"/>
            <a:ext cx="216000" cy="216000"/>
            <a:chOff x="2772000" y="1932221"/>
            <a:chExt cx="2340000" cy="2340000"/>
          </a:xfrm>
        </p:grpSpPr>
        <p:sp>
          <p:nvSpPr>
            <p:cNvPr id="15" name="Rectangle 1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8064388" y="4417764"/>
            <a:ext cx="216000" cy="216000"/>
          </a:xfrm>
          <a:prstGeom prst="rect">
            <a:avLst/>
          </a:prstGeom>
          <a:solidFill>
            <a:srgbClr val="1DA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35834" y="4489210"/>
            <a:ext cx="73108" cy="73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184068" y="5857924"/>
            <a:ext cx="216000" cy="216000"/>
            <a:chOff x="2772000" y="1932221"/>
            <a:chExt cx="2340000" cy="2340000"/>
          </a:xfrm>
        </p:grpSpPr>
        <p:sp>
          <p:nvSpPr>
            <p:cNvPr id="18" name="Rectangle 17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624228" y="4417764"/>
            <a:ext cx="216000" cy="216000"/>
            <a:chOff x="2772000" y="1932221"/>
            <a:chExt cx="2340000" cy="2340000"/>
          </a:xfrm>
        </p:grpSpPr>
        <p:sp>
          <p:nvSpPr>
            <p:cNvPr id="24" name="Rectangle 23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064388" y="2977604"/>
            <a:ext cx="216000" cy="216000"/>
            <a:chOff x="2772000" y="1932221"/>
            <a:chExt cx="2340000" cy="2340000"/>
          </a:xfrm>
        </p:grpSpPr>
        <p:sp>
          <p:nvSpPr>
            <p:cNvPr id="27" name="Rectangle 26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92142" y="897273"/>
            <a:ext cx="6048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UT Sans Bold" panose="00000500000000000000" pitchFamily="50" charset="0"/>
              </a:rPr>
              <a:t>Sistem de analiză al datelor pentru </a:t>
            </a:r>
            <a:r>
              <a:rPr lang="en-US" sz="3600" b="1" dirty="0" err="1">
                <a:latin typeface="UT Sans Bold" panose="00000500000000000000" pitchFamily="50" charset="0"/>
              </a:rPr>
              <a:t>manageri</a:t>
            </a:r>
            <a:endParaRPr lang="en-US" sz="3600" dirty="0">
              <a:latin typeface="UT Sans Bold" panose="00000500000000000000" pitchFamily="50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9349" y="2439273"/>
            <a:ext cx="360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T Sans Bold" panose="00000500000000000000" pitchFamily="50" charset="0"/>
              </a:rPr>
              <a:t>Miricescu Sonia Anamaria</a:t>
            </a:r>
            <a:endParaRPr lang="en-US" sz="2000" dirty="0">
              <a:latin typeface="UT Sans Bol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01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36B5C-8C3D-F340-7E10-B7DA4D25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416AAA5-A91B-1517-B23A-688E9D1F6B83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F7AA18-3640-9297-B8BA-CC88B074A43C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436BEB2-EBC0-5E61-5B2E-7E84B3842983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8F076A9-B3A2-66EB-8837-5E113341D2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162B47B8-9189-0639-D13E-B07B63023C26}"/>
              </a:ext>
            </a:extLst>
          </p:cNvPr>
          <p:cNvSpPr txBox="1"/>
          <p:nvPr/>
        </p:nvSpPr>
        <p:spPr>
          <a:xfrm>
            <a:off x="2447764" y="456337"/>
            <a:ext cx="6696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UT Sans" panose="00000500000000000000" pitchFamily="50" charset="0"/>
              </a:rPr>
              <a:t>Arhitectura</a:t>
            </a:r>
            <a:r>
              <a:rPr lang="en-US" sz="2800" b="1" dirty="0">
                <a:latin typeface="UT Sans" panose="00000500000000000000" pitchFamily="50" charset="0"/>
              </a:rPr>
              <a:t> </a:t>
            </a:r>
            <a:r>
              <a:rPr lang="en-US" sz="2800" b="1" dirty="0" err="1">
                <a:latin typeface="UT Sans" panose="00000500000000000000" pitchFamily="50" charset="0"/>
              </a:rPr>
              <a:t>Sistemului</a:t>
            </a:r>
            <a:r>
              <a:rPr lang="en-US" sz="2800" b="1" dirty="0">
                <a:latin typeface="UT Sans" panose="00000500000000000000" pitchFamily="50" charset="0"/>
              </a:rPr>
              <a:t> &amp; Sursa de Date</a:t>
            </a: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id="{7AD4618A-6C29-57E3-ED58-F65B9AE8DF10}"/>
              </a:ext>
            </a:extLst>
          </p:cNvPr>
          <p:cNvSpPr txBox="1"/>
          <p:nvPr/>
        </p:nvSpPr>
        <p:spPr>
          <a:xfrm>
            <a:off x="395536" y="1243786"/>
            <a:ext cx="4068452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</a:defRPr>
            </a:pPr>
            <a:r>
              <a:rPr lang="en-US" dirty="0">
                <a:latin typeface="UT Sans" panose="00000500000000000000" pitchFamily="50" charset="0"/>
              </a:rPr>
              <a:t> 200 </a:t>
            </a:r>
            <a:r>
              <a:rPr lang="en-US" dirty="0" err="1">
                <a:latin typeface="UT Sans" panose="00000500000000000000" pitchFamily="50" charset="0"/>
              </a:rPr>
              <a:t>angajați</a:t>
            </a:r>
            <a:r>
              <a:rPr lang="en-US" dirty="0">
                <a:latin typeface="UT Sans" panose="00000500000000000000" pitchFamily="50" charset="0"/>
              </a:rPr>
              <a:t> </a:t>
            </a:r>
            <a:r>
              <a:rPr lang="en-US" dirty="0" err="1">
                <a:latin typeface="UT Sans" panose="00000500000000000000" pitchFamily="50" charset="0"/>
              </a:rPr>
              <a:t>simulați</a:t>
            </a:r>
            <a:r>
              <a:rPr lang="en-US" dirty="0">
                <a:latin typeface="UT Sans" panose="00000500000000000000" pitchFamily="50" charset="0"/>
              </a:rPr>
              <a:t> × 12 </a:t>
            </a:r>
            <a:r>
              <a:rPr lang="en-US" dirty="0" err="1">
                <a:latin typeface="UT Sans" panose="00000500000000000000" pitchFamily="50" charset="0"/>
              </a:rPr>
              <a:t>luni</a:t>
            </a:r>
            <a:r>
              <a:rPr lang="en-US" dirty="0">
                <a:latin typeface="UT Sans" panose="00000500000000000000" pitchFamily="50" charset="0"/>
              </a:rPr>
              <a:t> (2023) = 2.400 </a:t>
            </a:r>
            <a:r>
              <a:rPr lang="en-US" dirty="0" err="1">
                <a:latin typeface="UT Sans" panose="00000500000000000000" pitchFamily="50" charset="0"/>
              </a:rPr>
              <a:t>înregistrări</a:t>
            </a:r>
            <a:r>
              <a:rPr lang="en-US" dirty="0">
                <a:latin typeface="UT Sans" panose="00000500000000000000" pitchFamily="50" charset="0"/>
              </a:rPr>
              <a:t> generate cu Python (</a:t>
            </a:r>
            <a:r>
              <a:rPr lang="en-US" dirty="0" err="1">
                <a:latin typeface="UT Sans" panose="00000500000000000000" pitchFamily="50" charset="0"/>
              </a:rPr>
              <a:t>numpy</a:t>
            </a:r>
            <a:r>
              <a:rPr lang="en-US" dirty="0">
                <a:latin typeface="UT Sans" panose="00000500000000000000" pitchFamily="50" charset="0"/>
              </a:rPr>
              <a:t>, pandas)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</a:defRPr>
            </a:pPr>
            <a:r>
              <a:rPr lang="en-US" dirty="0">
                <a:latin typeface="UT Sans" panose="00000500000000000000" pitchFamily="50" charset="0"/>
              </a:rPr>
              <a:t> </a:t>
            </a:r>
            <a:r>
              <a:rPr lang="en-US" dirty="0" err="1">
                <a:latin typeface="UT Sans" panose="00000500000000000000" pitchFamily="50" charset="0"/>
              </a:rPr>
              <a:t>Variabile</a:t>
            </a:r>
            <a:r>
              <a:rPr lang="en-US" dirty="0">
                <a:latin typeface="UT Sans" panose="00000500000000000000" pitchFamily="50" charset="0"/>
              </a:rPr>
              <a:t>: </a:t>
            </a:r>
            <a:r>
              <a:rPr lang="en-US" dirty="0" err="1">
                <a:latin typeface="UT Sans" panose="00000500000000000000" pitchFamily="50" charset="0"/>
              </a:rPr>
              <a:t>departament</a:t>
            </a:r>
            <a:r>
              <a:rPr lang="en-US" dirty="0">
                <a:latin typeface="UT Sans" panose="00000500000000000000" pitchFamily="50" charset="0"/>
              </a:rPr>
              <a:t>, manager, </a:t>
            </a:r>
            <a:r>
              <a:rPr lang="en-US" dirty="0" err="1">
                <a:latin typeface="UT Sans" panose="00000500000000000000" pitchFamily="50" charset="0"/>
              </a:rPr>
              <a:t>oraș</a:t>
            </a:r>
            <a:r>
              <a:rPr lang="en-US" dirty="0">
                <a:latin typeface="UT Sans" panose="00000500000000000000" pitchFamily="50" charset="0"/>
              </a:rPr>
              <a:t>, </a:t>
            </a:r>
            <a:r>
              <a:rPr lang="en-US" dirty="0" err="1">
                <a:latin typeface="UT Sans" panose="00000500000000000000" pitchFamily="50" charset="0"/>
              </a:rPr>
              <a:t>senioritate</a:t>
            </a:r>
            <a:r>
              <a:rPr lang="en-US" dirty="0">
                <a:latin typeface="UT Sans" panose="00000500000000000000" pitchFamily="50" charset="0"/>
              </a:rPr>
              <a:t>, ore </a:t>
            </a:r>
            <a:r>
              <a:rPr lang="en-US" dirty="0" err="1">
                <a:latin typeface="UT Sans" panose="00000500000000000000" pitchFamily="50" charset="0"/>
              </a:rPr>
              <a:t>lucrate</a:t>
            </a:r>
            <a:r>
              <a:rPr lang="en-US" dirty="0">
                <a:latin typeface="UT Sans" panose="00000500000000000000" pitchFamily="50" charset="0"/>
              </a:rPr>
              <a:t>, training, </a:t>
            </a:r>
            <a:r>
              <a:rPr lang="en-US" dirty="0" err="1">
                <a:latin typeface="UT Sans" panose="00000500000000000000" pitchFamily="50" charset="0"/>
              </a:rPr>
              <a:t>proiecte</a:t>
            </a:r>
            <a:r>
              <a:rPr lang="en-US" dirty="0">
                <a:latin typeface="UT Sans" panose="00000500000000000000" pitchFamily="50" charset="0"/>
              </a:rPr>
              <a:t>, feedback, </a:t>
            </a:r>
            <a:r>
              <a:rPr lang="en-US" dirty="0" err="1">
                <a:latin typeface="UT Sans" panose="00000500000000000000" pitchFamily="50" charset="0"/>
              </a:rPr>
              <a:t>scor</a:t>
            </a:r>
            <a:r>
              <a:rPr lang="en-US" dirty="0">
                <a:latin typeface="UT Sans" panose="00000500000000000000" pitchFamily="50" charset="0"/>
              </a:rPr>
              <a:t> </a:t>
            </a:r>
            <a:r>
              <a:rPr lang="en-US" dirty="0" err="1">
                <a:latin typeface="UT Sans" panose="00000500000000000000" pitchFamily="50" charset="0"/>
              </a:rPr>
              <a:t>performanță</a:t>
            </a:r>
            <a:r>
              <a:rPr lang="en-US" dirty="0">
                <a:latin typeface="UT Sans" panose="00000500000000000000" pitchFamily="50" charset="0"/>
              </a:rPr>
              <a:t>, </a:t>
            </a:r>
            <a:r>
              <a:rPr lang="en-US" dirty="0" err="1">
                <a:latin typeface="UT Sans" panose="00000500000000000000" pitchFamily="50" charset="0"/>
              </a:rPr>
              <a:t>risc</a:t>
            </a:r>
            <a:r>
              <a:rPr lang="en-US" dirty="0">
                <a:latin typeface="UT Sans" panose="00000500000000000000" pitchFamily="50" charset="0"/>
              </a:rPr>
              <a:t> </a:t>
            </a:r>
            <a:r>
              <a:rPr lang="en-US" dirty="0" err="1">
                <a:latin typeface="UT Sans" panose="00000500000000000000" pitchFamily="50" charset="0"/>
              </a:rPr>
              <a:t>plecare</a:t>
            </a:r>
            <a:endParaRPr lang="en-US" dirty="0">
              <a:latin typeface="UT Sans" panose="00000500000000000000" pitchFamily="50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</a:defRPr>
            </a:pPr>
            <a:r>
              <a:rPr lang="en-US" dirty="0">
                <a:latin typeface="UT Sans" panose="00000500000000000000" pitchFamily="50" charset="0"/>
              </a:rPr>
              <a:t>Scor </a:t>
            </a:r>
            <a:r>
              <a:rPr lang="en-US" dirty="0" err="1">
                <a:latin typeface="UT Sans" panose="00000500000000000000" pitchFamily="50" charset="0"/>
              </a:rPr>
              <a:t>performanță</a:t>
            </a:r>
            <a:r>
              <a:rPr lang="en-US" dirty="0">
                <a:latin typeface="UT Sans" panose="00000500000000000000" pitchFamily="50" charset="0"/>
              </a:rPr>
              <a:t> = Proiecte×10 + Ore×0.5 + Feedback×20 (bonus +50 pentru </a:t>
            </a:r>
            <a:r>
              <a:rPr lang="en-US" dirty="0" err="1">
                <a:latin typeface="UT Sans" panose="00000500000000000000" pitchFamily="50" charset="0"/>
              </a:rPr>
              <a:t>Seniori</a:t>
            </a:r>
            <a:r>
              <a:rPr lang="en-US" dirty="0">
                <a:latin typeface="UT Sans" panose="00000500000000000000" pitchFamily="50" charset="0"/>
              </a:rPr>
              <a:t>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</a:defRPr>
            </a:pPr>
            <a:r>
              <a:rPr lang="en-US" dirty="0">
                <a:latin typeface="UT Sans" panose="00000500000000000000" pitchFamily="50" charset="0"/>
              </a:rPr>
              <a:t> Risc de </a:t>
            </a:r>
            <a:r>
              <a:rPr lang="en-US" dirty="0" err="1">
                <a:latin typeface="UT Sans" panose="00000500000000000000" pitchFamily="50" charset="0"/>
              </a:rPr>
              <a:t>plecare</a:t>
            </a:r>
            <a:r>
              <a:rPr lang="en-US" dirty="0">
                <a:latin typeface="UT Sans" panose="00000500000000000000" pitchFamily="50" charset="0"/>
              </a:rPr>
              <a:t> </a:t>
            </a:r>
            <a:r>
              <a:rPr lang="en-US" dirty="0" err="1">
                <a:latin typeface="UT Sans" panose="00000500000000000000" pitchFamily="50" charset="0"/>
              </a:rPr>
              <a:t>clasificat</a:t>
            </a:r>
            <a:r>
              <a:rPr lang="en-US" dirty="0">
                <a:latin typeface="UT Sans" panose="00000500000000000000" pitchFamily="50" charset="0"/>
              </a:rPr>
              <a:t> </a:t>
            </a:r>
            <a:r>
              <a:rPr lang="en-US" dirty="0" err="1">
                <a:latin typeface="UT Sans" panose="00000500000000000000" pitchFamily="50" charset="0"/>
              </a:rPr>
              <a:t>în</a:t>
            </a:r>
            <a:r>
              <a:rPr lang="en-US" dirty="0">
                <a:latin typeface="UT Sans" panose="00000500000000000000" pitchFamily="50" charset="0"/>
              </a:rPr>
              <a:t> 3 </a:t>
            </a:r>
            <a:r>
              <a:rPr lang="en-US" dirty="0" err="1">
                <a:latin typeface="UT Sans" panose="00000500000000000000" pitchFamily="50" charset="0"/>
              </a:rPr>
              <a:t>categorii</a:t>
            </a:r>
            <a:r>
              <a:rPr lang="en-US" dirty="0">
                <a:latin typeface="UT Sans" panose="00000500000000000000" pitchFamily="50" charset="0"/>
              </a:rPr>
              <a:t>: Risc </a:t>
            </a:r>
            <a:r>
              <a:rPr lang="en-US" dirty="0" err="1">
                <a:latin typeface="UT Sans" panose="00000500000000000000" pitchFamily="50" charset="0"/>
              </a:rPr>
              <a:t>Ridicat</a:t>
            </a:r>
            <a:r>
              <a:rPr lang="en-US" dirty="0">
                <a:latin typeface="UT Sans" panose="00000500000000000000" pitchFamily="50" charset="0"/>
              </a:rPr>
              <a:t>, </a:t>
            </a:r>
            <a:r>
              <a:rPr lang="en-US" dirty="0" err="1">
                <a:latin typeface="UT Sans" panose="00000500000000000000" pitchFamily="50" charset="0"/>
              </a:rPr>
              <a:t>Potențial</a:t>
            </a:r>
            <a:r>
              <a:rPr lang="en-US" dirty="0">
                <a:latin typeface="UT Sans" panose="00000500000000000000" pitchFamily="50" charset="0"/>
              </a:rPr>
              <a:t>, Stabil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</a:defRPr>
            </a:pPr>
            <a:r>
              <a:rPr lang="en-US" dirty="0">
                <a:latin typeface="UT Sans" panose="00000500000000000000" pitchFamily="50" charset="0"/>
              </a:rPr>
              <a:t> Model de date Power BI: 2 </a:t>
            </a:r>
            <a:r>
              <a:rPr lang="en-US" dirty="0" err="1">
                <a:latin typeface="UT Sans" panose="00000500000000000000" pitchFamily="50" charset="0"/>
              </a:rPr>
              <a:t>tabele</a:t>
            </a:r>
            <a:r>
              <a:rPr lang="en-US" dirty="0">
                <a:latin typeface="UT Sans" panose="00000500000000000000" pitchFamily="50" charset="0"/>
              </a:rPr>
              <a:t> — </a:t>
            </a:r>
            <a:r>
              <a:rPr lang="en-US" dirty="0" err="1">
                <a:latin typeface="UT Sans" panose="00000500000000000000" pitchFamily="50" charset="0"/>
              </a:rPr>
              <a:t>date_angajati</a:t>
            </a:r>
            <a:r>
              <a:rPr lang="en-US" dirty="0">
                <a:latin typeface="UT Sans" panose="00000500000000000000" pitchFamily="50" charset="0"/>
              </a:rPr>
              <a:t> + </a:t>
            </a:r>
            <a:r>
              <a:rPr lang="en-US" dirty="0" err="1">
                <a:latin typeface="UT Sans" panose="00000500000000000000" pitchFamily="50" charset="0"/>
              </a:rPr>
              <a:t>Simulare_Training</a:t>
            </a:r>
            <a:r>
              <a:rPr lang="en-US" dirty="0">
                <a:latin typeface="UT Sans" panose="00000500000000000000" pitchFamily="50" charset="0"/>
              </a:rPr>
              <a:t> (</a:t>
            </a:r>
            <a:r>
              <a:rPr lang="en-US" dirty="0" err="1">
                <a:latin typeface="UT Sans" panose="00000500000000000000" pitchFamily="50" charset="0"/>
              </a:rPr>
              <a:t>parametri</a:t>
            </a:r>
            <a:r>
              <a:rPr lang="en-US" dirty="0">
                <a:latin typeface="UT Sans" panose="00000500000000000000" pitchFamily="50" charset="0"/>
              </a:rPr>
              <a:t> What-If)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500">
                <a:solidFill>
                  <a:srgbClr val="000000"/>
                </a:solidFill>
              </a:defRPr>
            </a:pPr>
            <a:r>
              <a:rPr lang="en-US" dirty="0">
                <a:latin typeface="UT Sans" panose="00000500000000000000" pitchFamily="50" charset="0"/>
              </a:rPr>
              <a:t> Strat de </a:t>
            </a:r>
            <a:r>
              <a:rPr lang="en-US" dirty="0" err="1">
                <a:latin typeface="UT Sans" panose="00000500000000000000" pitchFamily="50" charset="0"/>
              </a:rPr>
              <a:t>calcul</a:t>
            </a:r>
            <a:r>
              <a:rPr lang="en-US" dirty="0">
                <a:latin typeface="UT Sans" panose="00000500000000000000" pitchFamily="50" charset="0"/>
              </a:rPr>
              <a:t>: </a:t>
            </a:r>
            <a:r>
              <a:rPr lang="en-US" dirty="0" err="1">
                <a:latin typeface="UT Sans" panose="00000500000000000000" pitchFamily="50" charset="0"/>
              </a:rPr>
              <a:t>măsuri</a:t>
            </a:r>
            <a:r>
              <a:rPr lang="en-US" dirty="0">
                <a:latin typeface="UT Sans" panose="00000500000000000000" pitchFamily="50" charset="0"/>
              </a:rPr>
              <a:t> DAX (CALCULATE, DISTINCTCOUNT) + Python scikit-learn </a:t>
            </a:r>
            <a:r>
              <a:rPr lang="en-US" dirty="0" err="1">
                <a:latin typeface="UT Sans" panose="00000500000000000000" pitchFamily="50" charset="0"/>
              </a:rPr>
              <a:t>în</a:t>
            </a:r>
            <a:r>
              <a:rPr lang="en-US" dirty="0">
                <a:latin typeface="UT Sans" panose="00000500000000000000" pitchFamily="50" charset="0"/>
              </a:rPr>
              <a:t> </a:t>
            </a:r>
            <a:r>
              <a:rPr lang="en-US" dirty="0" err="1">
                <a:latin typeface="UT Sans" panose="00000500000000000000" pitchFamily="50" charset="0"/>
              </a:rPr>
              <a:t>vizualizări</a:t>
            </a:r>
            <a:endParaRPr lang="en-US" dirty="0">
              <a:latin typeface="UT Sans" panose="00000500000000000000" pitchFamily="50" charset="0"/>
            </a:endParaRPr>
          </a:p>
          <a:p>
            <a:endParaRPr lang="en-US" dirty="0"/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A4332434-82D8-256A-1DEC-7C4C68BBA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782" y="1124744"/>
            <a:ext cx="3451800" cy="3664220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727F6A82-FABC-0945-7680-983BFACD8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996" y="4934151"/>
            <a:ext cx="4562990" cy="185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31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C0B7A-88B5-11D4-580F-F2612B7E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1FBF291-4617-76A0-E32E-FD245752ED69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7A028D-9E6A-865A-52C4-BEB9ECF9F25F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F6C27D-0146-4A47-04AD-366F0DAD83A3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900670F-69E3-7832-EFAD-36659E52AB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2456D220-17E4-AB93-1113-0EFD0A40CC66}"/>
              </a:ext>
            </a:extLst>
          </p:cNvPr>
          <p:cNvSpPr txBox="1"/>
          <p:nvPr/>
        </p:nvSpPr>
        <p:spPr>
          <a:xfrm>
            <a:off x="2699792" y="260648"/>
            <a:ext cx="6660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UT Sans" panose="00000500000000000000" pitchFamily="50" charset="0"/>
              </a:rPr>
              <a:t>Aplicația – Meniu Principal &amp; Analiza Performanță HR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09AB39A9-9551-D884-B2B2-E913EE6B8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84784"/>
            <a:ext cx="4176464" cy="3600400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140AA954-977D-4B0D-D640-6AD61ADF6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452" y="1474222"/>
            <a:ext cx="4176464" cy="3600400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9F31E90A-E252-4910-2187-A92E2114ABCE}"/>
              </a:ext>
            </a:extLst>
          </p:cNvPr>
          <p:cNvSpPr txBox="1"/>
          <p:nvPr/>
        </p:nvSpPr>
        <p:spPr>
          <a:xfrm>
            <a:off x="575556" y="5157192"/>
            <a:ext cx="39964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Punct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intrare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sistem cu 4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carduri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KPI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sintetice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: Total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Angajați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Scor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Mediu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Procent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Risc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Plecare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Progres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Training. Oferă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navigare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rapidă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către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cele 3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secțiuni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principale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: Management &amp; HR, Analiză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Strategică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Inteligență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Artificială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Măsurile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DAX (DISTINCTCOUNT, CALCULATE)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asigură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acuratețea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datelor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afișate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  <a:p>
            <a:endParaRPr lang="en-US" dirty="0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9615B489-BBD4-A350-39EB-1A674A48D21F}"/>
              </a:ext>
            </a:extLst>
          </p:cNvPr>
          <p:cNvSpPr txBox="1"/>
          <p:nvPr/>
        </p:nvSpPr>
        <p:spPr>
          <a:xfrm>
            <a:off x="4679988" y="5157192"/>
            <a:ext cx="39964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Dashboard-ul principal HR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integrează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un slicer pentru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filtrare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lună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/an, un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grafic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donut cu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distribuția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plecare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Scăzut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/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Mediu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/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Ridicat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) și o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matrice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Toate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elementele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sunt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conectate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prin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filtre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încrucișate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—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selectarea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unui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actualizează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automat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toate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vizualizările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din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pagină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533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7E26F-F4DA-1803-C29E-F2D1CA742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338217C-B318-010A-9AF3-38C621FFA397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88DE74-86E4-620C-DC77-8250FD31D4A3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20FAA74-48B5-BCD1-65ED-97DA0A3B8EA0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A68F53A-B32D-DB96-008D-35DAC09F24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C3A746CB-6EE7-949E-AC01-B73311E613A4}"/>
              </a:ext>
            </a:extLst>
          </p:cNvPr>
          <p:cNvSpPr txBox="1"/>
          <p:nvPr/>
        </p:nvSpPr>
        <p:spPr>
          <a:xfrm>
            <a:off x="2699792" y="260648"/>
            <a:ext cx="6660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UT Sans" panose="00000500000000000000" pitchFamily="50" charset="0"/>
              </a:rPr>
              <a:t>Pagina</a:t>
            </a:r>
            <a:r>
              <a:rPr lang="en-US" sz="2800" b="1" dirty="0">
                <a:latin typeface="UT Sans" panose="00000500000000000000" pitchFamily="50" charset="0"/>
              </a:rPr>
              <a:t> 3 – </a:t>
            </a:r>
            <a:r>
              <a:rPr lang="en-US" sz="2800" b="1" dirty="0" err="1">
                <a:latin typeface="UT Sans" panose="00000500000000000000" pitchFamily="50" charset="0"/>
              </a:rPr>
              <a:t>Suport</a:t>
            </a:r>
            <a:r>
              <a:rPr lang="en-US" sz="2800" b="1" dirty="0">
                <a:latin typeface="UT Sans" panose="00000500000000000000" pitchFamily="50" charset="0"/>
              </a:rPr>
              <a:t> </a:t>
            </a:r>
            <a:r>
              <a:rPr lang="en-US" sz="2800" b="1" dirty="0" err="1">
                <a:latin typeface="UT Sans" panose="00000500000000000000" pitchFamily="50" charset="0"/>
              </a:rPr>
              <a:t>Decizional</a:t>
            </a:r>
            <a:r>
              <a:rPr lang="en-US" sz="2800" b="1" dirty="0">
                <a:latin typeface="UT Sans" panose="00000500000000000000" pitchFamily="50" charset="0"/>
              </a:rPr>
              <a:t>: Analiză </a:t>
            </a:r>
            <a:r>
              <a:rPr lang="en-US" sz="2800" b="1" dirty="0" err="1">
                <a:latin typeface="UT Sans" panose="00000500000000000000" pitchFamily="50" charset="0"/>
              </a:rPr>
              <a:t>Predictivă</a:t>
            </a:r>
            <a:r>
              <a:rPr lang="en-US" sz="2800" b="1" dirty="0">
                <a:latin typeface="UT Sans" panose="00000500000000000000" pitchFamily="50" charset="0"/>
              </a:rPr>
              <a:t> cu Random Forest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2E05173D-5D2C-31A4-FC92-D414AD34F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07" y="1286201"/>
            <a:ext cx="8209450" cy="4015007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A5F62D25-6ABB-3FA3-E292-D9B32355A274}"/>
              </a:ext>
            </a:extLst>
          </p:cNvPr>
          <p:cNvSpPr txBox="1"/>
          <p:nvPr/>
        </p:nvSpPr>
        <p:spPr>
          <a:xfrm>
            <a:off x="481440" y="5447697"/>
            <a:ext cx="797922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Cel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complex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modul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al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sistemului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care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implementează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un model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clasificare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Random Forest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prin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integrarea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Python (scikit-learn) direct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Power BI.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Modelul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este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antrenat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datele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celor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200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angajați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folosind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6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variabile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predictoare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ore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lucrate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ore training,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vârstă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vechime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)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prezice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probabilitatea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individuală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plecare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Pagina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afișează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: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graficul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feature importance,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matricea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confuzie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scorul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acuratețe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Răspunde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la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întrebarea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managerială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: «Ce se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întâmpla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dacă nu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intervenim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?»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282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3B76-6599-D1C1-621B-5E081AF8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CDB4417-826E-8D36-9319-FDB636A42CB4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523D4E2-1242-DA24-F6E2-6CDEDA2DEB8D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75586B-495C-1F6D-4F44-F4DD93658AE0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093EF02-D78A-C435-9CC8-69DBE9CF3C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5F9F196F-BD92-48E1-9D32-448452728AA8}"/>
              </a:ext>
            </a:extLst>
          </p:cNvPr>
          <p:cNvSpPr txBox="1"/>
          <p:nvPr/>
        </p:nvSpPr>
        <p:spPr>
          <a:xfrm>
            <a:off x="2699792" y="260648"/>
            <a:ext cx="6660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UT Sans" panose="00000500000000000000" pitchFamily="50" charset="0"/>
              </a:rPr>
              <a:t>Distribuție</a:t>
            </a:r>
            <a:r>
              <a:rPr lang="en-US" sz="2800" b="1" dirty="0">
                <a:latin typeface="UT Sans" panose="00000500000000000000" pitchFamily="50" charset="0"/>
              </a:rPr>
              <a:t> </a:t>
            </a:r>
            <a:r>
              <a:rPr lang="en-US" sz="2800" b="1" dirty="0" err="1">
                <a:latin typeface="UT Sans" panose="00000500000000000000" pitchFamily="50" charset="0"/>
              </a:rPr>
              <a:t>Geografică</a:t>
            </a:r>
            <a:r>
              <a:rPr lang="en-US" sz="2800" b="1" dirty="0">
                <a:latin typeface="UT Sans" panose="00000500000000000000" pitchFamily="50" charset="0"/>
              </a:rPr>
              <a:t> &amp; </a:t>
            </a:r>
            <a:r>
              <a:rPr lang="en-US" sz="2800" b="1" dirty="0" err="1">
                <a:latin typeface="UT Sans" panose="00000500000000000000" pitchFamily="50" charset="0"/>
              </a:rPr>
              <a:t>Evoluția</a:t>
            </a:r>
            <a:r>
              <a:rPr lang="en-US" sz="2800" b="1" dirty="0">
                <a:latin typeface="UT Sans" panose="00000500000000000000" pitchFamily="50" charset="0"/>
              </a:rPr>
              <a:t> </a:t>
            </a:r>
            <a:r>
              <a:rPr lang="en-US" sz="2800" b="1" dirty="0" err="1">
                <a:latin typeface="UT Sans" panose="00000500000000000000" pitchFamily="50" charset="0"/>
              </a:rPr>
              <a:t>Performanței</a:t>
            </a:r>
            <a:endParaRPr lang="en-US" sz="2800" b="1" dirty="0">
              <a:latin typeface="UT Sans" panose="00000500000000000000" pitchFamily="50" charset="0"/>
            </a:endParaRP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BE8ED535-57B8-729E-EBAC-A26636FEB8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36" y="1422388"/>
            <a:ext cx="4460472" cy="3662795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12670260-0C13-D24D-CA63-69D27CE29A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020" y="1426128"/>
            <a:ext cx="4202048" cy="3587048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8CBCCC54-5874-E682-B2C8-4994B253282E}"/>
              </a:ext>
            </a:extLst>
          </p:cNvPr>
          <p:cNvSpPr txBox="1"/>
          <p:nvPr/>
        </p:nvSpPr>
        <p:spPr>
          <a:xfrm>
            <a:off x="287524" y="5301208"/>
            <a:ext cx="42844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Utilizează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vizualizarea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Azure Maps pentru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reprezenta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spațial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forța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muncă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harta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României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Bulele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sunt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proporționale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numărul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angajați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oraș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colorate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permițând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identificarea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rapidă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concentrărilor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Managerii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pot filtra pe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sau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categorie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pentru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vedea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distribuția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angajaților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vulnerabili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locație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  <a:p>
            <a:endParaRPr lang="en-US" dirty="0"/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73881E99-D1A8-F194-DADF-0BB71729A051}"/>
              </a:ext>
            </a:extLst>
          </p:cNvPr>
          <p:cNvSpPr txBox="1"/>
          <p:nvPr/>
        </p:nvSpPr>
        <p:spPr>
          <a:xfrm>
            <a:off x="4752020" y="5301208"/>
            <a:ext cx="428447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Grafic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linii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tendințele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lunare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ale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scorului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mediu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pentru fiecare manager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parte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pe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parcursul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2023.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Permite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identificarea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managerilor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scădere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continuă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față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cei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fluctuații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sezoniere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normale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Util pentru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decizii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coaching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intervenție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timpurie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09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2635C-E337-5D32-BE71-45A6F3BBB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C04E326-3A85-E1C0-3EA8-01E8D505521D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BBACEEF-AB77-0E1C-3987-320DFBCF5FD2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99E69E7-5831-A2AE-C2D1-5621042B274C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1324F52-2719-82FC-5E81-80B9B1AB02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9171B8E9-18A5-77AE-1A09-4EFDAC55FF4A}"/>
              </a:ext>
            </a:extLst>
          </p:cNvPr>
          <p:cNvSpPr txBox="1"/>
          <p:nvPr/>
        </p:nvSpPr>
        <p:spPr>
          <a:xfrm>
            <a:off x="2699792" y="260648"/>
            <a:ext cx="6660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UT Sans" panose="00000500000000000000" pitchFamily="50" charset="0"/>
              </a:rPr>
              <a:t>Analiză </a:t>
            </a:r>
            <a:r>
              <a:rPr lang="en-US" sz="2800" b="1" dirty="0" err="1">
                <a:latin typeface="UT Sans" panose="00000500000000000000" pitchFamily="50" charset="0"/>
              </a:rPr>
              <a:t>Multivariată</a:t>
            </a:r>
            <a:r>
              <a:rPr lang="en-US" sz="2800" b="1" dirty="0">
                <a:latin typeface="UT Sans" panose="00000500000000000000" pitchFamily="50" charset="0"/>
              </a:rPr>
              <a:t> &amp; </a:t>
            </a:r>
            <a:r>
              <a:rPr lang="en-US" sz="2800" b="1" dirty="0" err="1">
                <a:latin typeface="UT Sans" panose="00000500000000000000" pitchFamily="50" charset="0"/>
              </a:rPr>
              <a:t>Statistică</a:t>
            </a:r>
            <a:r>
              <a:rPr lang="en-US" sz="2800" b="1" dirty="0">
                <a:latin typeface="UT Sans" panose="00000500000000000000" pitchFamily="50" charset="0"/>
              </a:rPr>
              <a:t> (Python)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9D74256E-15E3-9416-C91D-965CA344F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24" y="1438876"/>
            <a:ext cx="4428492" cy="3718316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F508817B-BEB4-9C41-111D-7B9D57448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438876"/>
            <a:ext cx="4344732" cy="3718315"/>
          </a:xfrm>
          <a:prstGeom prst="rect">
            <a:avLst/>
          </a:prstGeom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C924E386-CB86-B13E-11F0-9E8C419A60BA}"/>
              </a:ext>
            </a:extLst>
          </p:cNvPr>
          <p:cNvSpPr txBox="1"/>
          <p:nvPr/>
        </p:nvSpPr>
        <p:spPr>
          <a:xfrm>
            <a:off x="287524" y="5301208"/>
            <a:ext cx="42844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Vizualizare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Python (seaborn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pairplot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) care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afișează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simultan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toate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relațiile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bivariate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dintre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variabilele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cheie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: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ore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lucrate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ore training. Fiecare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punct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reprezintă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un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colorat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după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categoria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Permite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observarea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corelațiilor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clusterelor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naturale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— un prim pas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vizual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analiza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multidimensională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 datelor HR.</a:t>
            </a:r>
          </a:p>
          <a:p>
            <a:endParaRPr lang="en-US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E3186A6B-7493-9231-7A45-62CEE6FBDCAF}"/>
              </a:ext>
            </a:extLst>
          </p:cNvPr>
          <p:cNvSpPr txBox="1"/>
          <p:nvPr/>
        </p:nvSpPr>
        <p:spPr>
          <a:xfrm>
            <a:off x="4731482" y="5301208"/>
            <a:ext cx="4284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Violin plots (seaborn) pe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: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arată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distribuția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completă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scorurilor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pentru fiecare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categorie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Scăzut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/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Mediu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/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Ridicat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).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Angajații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ridicat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prezintă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o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distribuție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largă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asimetrică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indicând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o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variabilitate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mare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performanței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Util pentru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comparații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statistice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între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9708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F7C34-5070-0121-E29A-560874AF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696C0AC-94B2-025F-1545-4EC4C6799918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A3062AF-C91A-91A0-6293-22DF67127FA6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E45CD03-8FA8-DDB7-0FA2-3135F8851C5E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7D84197-364A-E886-ACEB-692EFB999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D2CE8CC9-9FD9-E24B-1BAF-DB796732A2C7}"/>
              </a:ext>
            </a:extLst>
          </p:cNvPr>
          <p:cNvSpPr txBox="1"/>
          <p:nvPr/>
        </p:nvSpPr>
        <p:spPr>
          <a:xfrm>
            <a:off x="2699792" y="260648"/>
            <a:ext cx="6660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UT Sans" panose="00000500000000000000" pitchFamily="50" charset="0"/>
              </a:rPr>
              <a:t>Analiză </a:t>
            </a:r>
            <a:r>
              <a:rPr lang="en-US" sz="2800" b="1" dirty="0" err="1">
                <a:latin typeface="UT Sans" panose="00000500000000000000" pitchFamily="50" charset="0"/>
              </a:rPr>
              <a:t>Comparativă</a:t>
            </a:r>
            <a:r>
              <a:rPr lang="en-US" sz="2800" b="1" dirty="0">
                <a:latin typeface="UT Sans" panose="00000500000000000000" pitchFamily="50" charset="0"/>
              </a:rPr>
              <a:t> &amp; </a:t>
            </a:r>
            <a:r>
              <a:rPr lang="en-US" sz="2800" b="1" dirty="0" err="1">
                <a:latin typeface="UT Sans" panose="00000500000000000000" pitchFamily="50" charset="0"/>
              </a:rPr>
              <a:t>Evaluarea</a:t>
            </a:r>
            <a:r>
              <a:rPr lang="en-US" sz="2800" b="1" dirty="0">
                <a:latin typeface="UT Sans" panose="00000500000000000000" pitchFamily="50" charset="0"/>
              </a:rPr>
              <a:t> </a:t>
            </a:r>
            <a:r>
              <a:rPr lang="en-US" sz="2800" b="1" dirty="0" err="1">
                <a:latin typeface="UT Sans" panose="00000500000000000000" pitchFamily="50" charset="0"/>
              </a:rPr>
              <a:t>Eficienței</a:t>
            </a:r>
            <a:endParaRPr lang="en-US" sz="2800" b="1" dirty="0">
              <a:latin typeface="UT Sans" panose="00000500000000000000" pitchFamily="50" charset="0"/>
            </a:endParaRP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F59A33E9-3ECD-ECD8-69F4-24F4C329FE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265138"/>
            <a:ext cx="4536504" cy="4000066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ED9E6B43-9909-CD63-BF98-747AD234D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265138"/>
            <a:ext cx="4335055" cy="4000066"/>
          </a:xfrm>
          <a:prstGeom prst="rect">
            <a:avLst/>
          </a:prstGeom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54BD82DC-085D-54DB-F31B-84E105C5BDFC}"/>
              </a:ext>
            </a:extLst>
          </p:cNvPr>
          <p:cNvSpPr txBox="1"/>
          <p:nvPr/>
        </p:nvSpPr>
        <p:spPr>
          <a:xfrm>
            <a:off x="287524" y="5301208"/>
            <a:ext cx="428447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Implementează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un model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regresie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liniară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(scikit-learn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LinearRegression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) pentru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ierarhiza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factorii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cel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mare impact asupra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scorului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Rezultatele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sunt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prezentate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ca bare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orizontale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coeficienții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modelului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: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orele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lucrate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orele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training au cel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mare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coeficient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pozitiv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confirmând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investiția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formare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profesională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îmbunătățește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  <a:p>
            <a:endParaRPr lang="en-US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BE8527BD-44D8-C506-B85C-52E5B3149EB2}"/>
              </a:ext>
            </a:extLst>
          </p:cNvPr>
          <p:cNvSpPr txBox="1"/>
          <p:nvPr/>
        </p:nvSpPr>
        <p:spPr>
          <a:xfrm>
            <a:off x="4716016" y="5301208"/>
            <a:ext cx="42844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Matricea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centrală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burnout: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axele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sunt Ore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Lucrate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efort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) și Scor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rezultat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), cu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angajații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colorați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după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categoria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Cuadrantul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critic —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efort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ridicat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scăzută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— identifică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angajații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epuizare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profesională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conform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modelului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Gallup Q12.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Implementată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matplotlib scatter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Power BI.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367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AC7C2-91A6-042F-DFC3-C71A14DA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BE21E08-5574-C723-9298-525CC8588BD0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C9BD78-F172-17E7-C217-226D98011CCD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412706-8271-F79D-9429-0F272281D1EA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3C24CEF-33AE-25AA-43E7-10053BA52F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802EF274-AE18-46DF-60A0-A2EACF5DBA84}"/>
              </a:ext>
            </a:extLst>
          </p:cNvPr>
          <p:cNvSpPr txBox="1"/>
          <p:nvPr/>
        </p:nvSpPr>
        <p:spPr>
          <a:xfrm>
            <a:off x="2699792" y="260648"/>
            <a:ext cx="6660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UT Sans" panose="00000500000000000000" pitchFamily="50" charset="0"/>
              </a:rPr>
              <a:t>Pagina</a:t>
            </a:r>
            <a:r>
              <a:rPr lang="en-US" sz="2800" b="1" dirty="0">
                <a:latin typeface="UT Sans" panose="00000500000000000000" pitchFamily="50" charset="0"/>
              </a:rPr>
              <a:t> 10 – K-Means Clustering: </a:t>
            </a:r>
            <a:r>
              <a:rPr lang="en-US" sz="2800" b="1" dirty="0" err="1">
                <a:latin typeface="UT Sans" panose="00000500000000000000" pitchFamily="50" charset="0"/>
              </a:rPr>
              <a:t>Segmentarea</a:t>
            </a:r>
            <a:r>
              <a:rPr lang="en-US" sz="2800" b="1" dirty="0">
                <a:latin typeface="UT Sans" panose="00000500000000000000" pitchFamily="50" charset="0"/>
              </a:rPr>
              <a:t> </a:t>
            </a:r>
            <a:r>
              <a:rPr lang="en-US" sz="2800" b="1" dirty="0" err="1">
                <a:latin typeface="UT Sans" panose="00000500000000000000" pitchFamily="50" charset="0"/>
              </a:rPr>
              <a:t>Angajaților</a:t>
            </a:r>
            <a:endParaRPr lang="en-US" sz="2800" b="1" dirty="0">
              <a:latin typeface="UT Sans" panose="00000500000000000000" pitchFamily="50" charset="0"/>
            </a:endParaRP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2995FE86-A5C2-3747-05DB-0DAC72235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304764"/>
            <a:ext cx="7272808" cy="3888432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C46C206E-5BD7-69E6-5BEE-8FA0FC5E16A8}"/>
              </a:ext>
            </a:extLst>
          </p:cNvPr>
          <p:cNvSpPr txBox="1"/>
          <p:nvPr/>
        </p:nvSpPr>
        <p:spPr>
          <a:xfrm>
            <a:off x="1043608" y="5301208"/>
            <a:ext cx="72728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UT Sans" panose="00000500000000000000" pitchFamily="50" charset="0"/>
              </a:rPr>
              <a:t>Această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pagină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folosește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algoritmul</a:t>
            </a:r>
            <a:r>
              <a:rPr lang="en-US" sz="1200" dirty="0">
                <a:latin typeface="UT Sans" panose="00000500000000000000" pitchFamily="50" charset="0"/>
              </a:rPr>
              <a:t> de </a:t>
            </a:r>
            <a:r>
              <a:rPr lang="en-US" sz="1200" dirty="0" err="1">
                <a:latin typeface="UT Sans" panose="00000500000000000000" pitchFamily="50" charset="0"/>
              </a:rPr>
              <a:t>inteligență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artificială</a:t>
            </a:r>
            <a:r>
              <a:rPr lang="en-US" sz="1200" dirty="0">
                <a:latin typeface="UT Sans" panose="00000500000000000000" pitchFamily="50" charset="0"/>
              </a:rPr>
              <a:t> K-Means, un model de </a:t>
            </a:r>
            <a:r>
              <a:rPr lang="en-US" sz="1200" dirty="0" err="1">
                <a:latin typeface="UT Sans" panose="00000500000000000000" pitchFamily="50" charset="0"/>
              </a:rPr>
              <a:t>învățare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nesupervizată</a:t>
            </a:r>
            <a:r>
              <a:rPr lang="en-US" sz="1200" dirty="0">
                <a:latin typeface="UT Sans" panose="00000500000000000000" pitchFamily="50" charset="0"/>
              </a:rPr>
              <a:t> care </a:t>
            </a:r>
            <a:r>
              <a:rPr lang="en-US" sz="1200" dirty="0" err="1">
                <a:latin typeface="UT Sans" panose="00000500000000000000" pitchFamily="50" charset="0"/>
              </a:rPr>
              <a:t>grupează</a:t>
            </a:r>
            <a:r>
              <a:rPr lang="en-US" sz="1200" dirty="0">
                <a:latin typeface="UT Sans" panose="00000500000000000000" pitchFamily="50" charset="0"/>
              </a:rPr>
              <a:t> automat </a:t>
            </a:r>
            <a:r>
              <a:rPr lang="en-US" sz="1200" dirty="0" err="1">
                <a:latin typeface="UT Sans" panose="00000500000000000000" pitchFamily="50" charset="0"/>
              </a:rPr>
              <a:t>angajații</a:t>
            </a:r>
            <a:r>
              <a:rPr lang="en-US" sz="1200" dirty="0">
                <a:latin typeface="UT Sans" panose="00000500000000000000" pitchFamily="50" charset="0"/>
              </a:rPr>
              <a:t>, </a:t>
            </a:r>
            <a:r>
              <a:rPr lang="en-US" sz="1200" dirty="0" err="1">
                <a:latin typeface="UT Sans" panose="00000500000000000000" pitchFamily="50" charset="0"/>
              </a:rPr>
              <a:t>fără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categorii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prestabilite</a:t>
            </a:r>
            <a:r>
              <a:rPr lang="en-US" sz="1200" dirty="0">
                <a:latin typeface="UT Sans" panose="00000500000000000000" pitchFamily="50" charset="0"/>
              </a:rPr>
              <a:t>. Pe </a:t>
            </a:r>
            <a:r>
              <a:rPr lang="en-US" sz="1200" dirty="0" err="1">
                <a:latin typeface="UT Sans" panose="00000500000000000000" pitchFamily="50" charset="0"/>
              </a:rPr>
              <a:t>baza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orelor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lucrate</a:t>
            </a:r>
            <a:r>
              <a:rPr lang="en-US" sz="1200" dirty="0">
                <a:latin typeface="UT Sans" panose="00000500000000000000" pitchFamily="50" charset="0"/>
              </a:rPr>
              <a:t> și a </a:t>
            </a:r>
            <a:r>
              <a:rPr lang="en-US" sz="1200" dirty="0" err="1">
                <a:latin typeface="UT Sans" panose="00000500000000000000" pitchFamily="50" charset="0"/>
              </a:rPr>
              <a:t>scorului</a:t>
            </a:r>
            <a:r>
              <a:rPr lang="en-US" sz="1200" dirty="0">
                <a:latin typeface="UT Sans" panose="00000500000000000000" pitchFamily="50" charset="0"/>
              </a:rPr>
              <a:t> de </a:t>
            </a:r>
            <a:r>
              <a:rPr lang="en-US" sz="1200" dirty="0" err="1"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latin typeface="UT Sans" panose="00000500000000000000" pitchFamily="50" charset="0"/>
              </a:rPr>
              <a:t>, </a:t>
            </a:r>
            <a:r>
              <a:rPr lang="en-US" sz="1200" dirty="0" err="1">
                <a:latin typeface="UT Sans" panose="00000500000000000000" pitchFamily="50" charset="0"/>
              </a:rPr>
              <a:t>algoritmul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descoperă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singur</a:t>
            </a:r>
            <a:r>
              <a:rPr lang="en-US" sz="1200" dirty="0">
                <a:latin typeface="UT Sans" panose="00000500000000000000" pitchFamily="50" charset="0"/>
              </a:rPr>
              <a:t> </a:t>
            </a:r>
            <a:r>
              <a:rPr lang="en-US" sz="1200" dirty="0" err="1">
                <a:latin typeface="UT Sans" panose="00000500000000000000" pitchFamily="50" charset="0"/>
              </a:rPr>
              <a:t>trei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segmente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naturale</a:t>
            </a:r>
            <a:r>
              <a:rPr lang="en-US" sz="1200" dirty="0">
                <a:latin typeface="UT Sans" panose="00000500000000000000" pitchFamily="50" charset="0"/>
              </a:rPr>
              <a:t>: Low Performers (</a:t>
            </a:r>
            <a:r>
              <a:rPr lang="en-US" sz="1200" dirty="0" err="1">
                <a:latin typeface="UT Sans" panose="00000500000000000000" pitchFamily="50" charset="0"/>
              </a:rPr>
              <a:t>rezultate</a:t>
            </a:r>
            <a:r>
              <a:rPr lang="en-US" sz="1200" dirty="0">
                <a:latin typeface="UT Sans" panose="00000500000000000000" pitchFamily="50" charset="0"/>
              </a:rPr>
              <a:t> sub </a:t>
            </a:r>
            <a:r>
              <a:rPr lang="en-US" sz="1200" dirty="0" err="1">
                <a:latin typeface="UT Sans" panose="00000500000000000000" pitchFamily="50" charset="0"/>
              </a:rPr>
              <a:t>așteptări</a:t>
            </a:r>
            <a:r>
              <a:rPr lang="en-US" sz="1200" dirty="0">
                <a:latin typeface="UT Sans" panose="00000500000000000000" pitchFamily="50" charset="0"/>
              </a:rPr>
              <a:t>), Core Performers (</a:t>
            </a:r>
            <a:r>
              <a:rPr lang="en-US" sz="1200" dirty="0" err="1">
                <a:latin typeface="UT Sans" panose="00000500000000000000" pitchFamily="50" charset="0"/>
              </a:rPr>
              <a:t>angajații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stabili</a:t>
            </a:r>
            <a:r>
              <a:rPr lang="en-US" sz="1200" dirty="0">
                <a:latin typeface="UT Sans" panose="00000500000000000000" pitchFamily="50" charset="0"/>
              </a:rPr>
              <a:t>, </a:t>
            </a:r>
            <a:r>
              <a:rPr lang="en-US" sz="1200" dirty="0" err="1">
                <a:latin typeface="UT Sans" panose="00000500000000000000" pitchFamily="50" charset="0"/>
              </a:rPr>
              <a:t>baza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companiei</a:t>
            </a:r>
            <a:r>
              <a:rPr lang="en-US" sz="1200" dirty="0">
                <a:latin typeface="UT Sans" panose="00000500000000000000" pitchFamily="50" charset="0"/>
              </a:rPr>
              <a:t>) și Top Talents (</a:t>
            </a:r>
            <a:r>
              <a:rPr lang="en-US" sz="1200" dirty="0" err="1">
                <a:latin typeface="UT Sans" panose="00000500000000000000" pitchFamily="50" charset="0"/>
              </a:rPr>
              <a:t>scoruri</a:t>
            </a:r>
            <a:r>
              <a:rPr lang="en-US" sz="1200" dirty="0">
                <a:latin typeface="UT Sans" panose="00000500000000000000" pitchFamily="50" charset="0"/>
              </a:rPr>
              <a:t> foarte </a:t>
            </a:r>
            <a:r>
              <a:rPr lang="en-US" sz="1200" dirty="0" err="1">
                <a:latin typeface="UT Sans" panose="00000500000000000000" pitchFamily="50" charset="0"/>
              </a:rPr>
              <a:t>mari</a:t>
            </a:r>
            <a:r>
              <a:rPr lang="en-US" sz="1200" dirty="0">
                <a:latin typeface="UT Sans" panose="00000500000000000000" pitchFamily="50" charset="0"/>
              </a:rPr>
              <a:t>). Fiecare </a:t>
            </a:r>
            <a:r>
              <a:rPr lang="en-US" sz="1200" dirty="0" err="1">
                <a:latin typeface="UT Sans" panose="00000500000000000000" pitchFamily="50" charset="0"/>
              </a:rPr>
              <a:t>grup</a:t>
            </a:r>
            <a:r>
              <a:rPr lang="en-US" sz="1200" dirty="0">
                <a:latin typeface="UT Sans" panose="00000500000000000000" pitchFamily="50" charset="0"/>
              </a:rPr>
              <a:t> are </a:t>
            </a:r>
            <a:r>
              <a:rPr lang="en-US" sz="1200" dirty="0" err="1">
                <a:latin typeface="UT Sans" panose="00000500000000000000" pitchFamily="50" charset="0"/>
              </a:rPr>
              <a:t>marcat</a:t>
            </a:r>
            <a:r>
              <a:rPr lang="en-US" sz="1200" dirty="0">
                <a:latin typeface="UT Sans" panose="00000500000000000000" pitchFamily="50" charset="0"/>
              </a:rPr>
              <a:t> centrul (</a:t>
            </a:r>
            <a:r>
              <a:rPr lang="en-US" sz="1200" dirty="0" err="1">
                <a:latin typeface="UT Sans" panose="00000500000000000000" pitchFamily="50" charset="0"/>
              </a:rPr>
              <a:t>centroidul</a:t>
            </a:r>
            <a:r>
              <a:rPr lang="en-US" sz="1200" dirty="0">
                <a:latin typeface="UT Sans" panose="00000500000000000000" pitchFamily="50" charset="0"/>
              </a:rPr>
              <a:t>), iar un </a:t>
            </a:r>
            <a:r>
              <a:rPr lang="en-US" sz="1200" dirty="0" err="1">
                <a:latin typeface="UT Sans" panose="00000500000000000000" pitchFamily="50" charset="0"/>
              </a:rPr>
              <a:t>prag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vizual</a:t>
            </a:r>
            <a:r>
              <a:rPr lang="en-US" sz="1200" dirty="0">
                <a:latin typeface="UT Sans" panose="00000500000000000000" pitchFamily="50" charset="0"/>
              </a:rPr>
              <a:t> la 220 de ore </a:t>
            </a:r>
            <a:r>
              <a:rPr lang="en-US" sz="1200" dirty="0" err="1">
                <a:latin typeface="UT Sans" panose="00000500000000000000" pitchFamily="50" charset="0"/>
              </a:rPr>
              <a:t>evidențiază</a:t>
            </a:r>
            <a:r>
              <a:rPr lang="en-US" sz="1200" dirty="0">
                <a:latin typeface="UT Sans" panose="00000500000000000000" pitchFamily="50" charset="0"/>
              </a:rPr>
              <a:t> zona de burnout. </a:t>
            </a:r>
            <a:r>
              <a:rPr lang="en-US" sz="1200" dirty="0" err="1">
                <a:latin typeface="UT Sans" panose="00000500000000000000" pitchFamily="50" charset="0"/>
              </a:rPr>
              <a:t>Spre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deosebire</a:t>
            </a:r>
            <a:r>
              <a:rPr lang="en-US" sz="1200" dirty="0">
                <a:latin typeface="UT Sans" panose="00000500000000000000" pitchFamily="50" charset="0"/>
              </a:rPr>
              <a:t> de </a:t>
            </a:r>
            <a:r>
              <a:rPr lang="en-US" sz="1200" dirty="0" err="1">
                <a:latin typeface="UT Sans" panose="00000500000000000000" pitchFamily="50" charset="0"/>
              </a:rPr>
              <a:t>clasificarea</a:t>
            </a:r>
            <a:r>
              <a:rPr lang="en-US" sz="1200" dirty="0">
                <a:latin typeface="UT Sans" panose="00000500000000000000" pitchFamily="50" charset="0"/>
              </a:rPr>
              <a:t> pe reguli, </a:t>
            </a:r>
            <a:r>
              <a:rPr lang="en-US" sz="1200" dirty="0" err="1">
                <a:latin typeface="UT Sans" panose="00000500000000000000" pitchFamily="50" charset="0"/>
              </a:rPr>
              <a:t>această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segmentare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automată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validează</a:t>
            </a:r>
            <a:r>
              <a:rPr lang="en-US" sz="1200" dirty="0">
                <a:latin typeface="UT Sans" panose="00000500000000000000" pitchFamily="50" charset="0"/>
              </a:rPr>
              <a:t> independent </a:t>
            </a:r>
            <a:r>
              <a:rPr lang="en-US" sz="1200" dirty="0" err="1">
                <a:latin typeface="UT Sans" panose="00000500000000000000" pitchFamily="50" charset="0"/>
              </a:rPr>
              <a:t>logica</a:t>
            </a:r>
            <a:r>
              <a:rPr lang="en-US" sz="1200" dirty="0">
                <a:latin typeface="UT Sans" panose="00000500000000000000" pitchFamily="50" charset="0"/>
              </a:rPr>
              <a:t> de </a:t>
            </a:r>
            <a:r>
              <a:rPr lang="en-US" sz="1200" dirty="0" err="1">
                <a:latin typeface="UT Sans" panose="00000500000000000000" pitchFamily="50" charset="0"/>
              </a:rPr>
              <a:t>risc</a:t>
            </a:r>
            <a:r>
              <a:rPr lang="en-US" sz="1200" dirty="0">
                <a:latin typeface="UT Sans" panose="00000500000000000000" pitchFamily="50" charset="0"/>
              </a:rPr>
              <a:t> și oferă </a:t>
            </a:r>
            <a:r>
              <a:rPr lang="en-US" sz="1200" dirty="0" err="1">
                <a:latin typeface="UT Sans" panose="00000500000000000000" pitchFamily="50" charset="0"/>
              </a:rPr>
              <a:t>fiecărui</a:t>
            </a:r>
            <a:r>
              <a:rPr lang="en-US" sz="1200" dirty="0">
                <a:latin typeface="UT Sans" panose="00000500000000000000" pitchFamily="50" charset="0"/>
              </a:rPr>
              <a:t> </a:t>
            </a:r>
            <a:r>
              <a:rPr lang="en-US" sz="1200" dirty="0" err="1">
                <a:latin typeface="UT Sans" panose="00000500000000000000" pitchFamily="50" charset="0"/>
              </a:rPr>
              <a:t>grup</a:t>
            </a:r>
            <a:r>
              <a:rPr lang="en-US" sz="1200" dirty="0">
                <a:latin typeface="UT Sans" panose="00000500000000000000" pitchFamily="50" charset="0"/>
              </a:rPr>
              <a:t> o </a:t>
            </a:r>
            <a:r>
              <a:rPr lang="en-US" sz="1200" dirty="0" err="1">
                <a:latin typeface="UT Sans" panose="00000500000000000000" pitchFamily="50" charset="0"/>
              </a:rPr>
              <a:t>recomandare</a:t>
            </a:r>
            <a:r>
              <a:rPr lang="en-US" sz="1200" dirty="0">
                <a:latin typeface="UT Sans" panose="00000500000000000000" pitchFamily="50" charset="0"/>
              </a:rPr>
              <a:t> de </a:t>
            </a:r>
            <a:r>
              <a:rPr lang="en-US" sz="1200" dirty="0" err="1">
                <a:latin typeface="UT Sans" panose="00000500000000000000" pitchFamily="50" charset="0"/>
              </a:rPr>
              <a:t>acțiune</a:t>
            </a:r>
            <a:r>
              <a:rPr lang="en-US" sz="1200" dirty="0">
                <a:latin typeface="UT Sans" panose="00000500000000000000" pitchFamily="50" charset="0"/>
              </a:rPr>
              <a:t> — de la plan de training </a:t>
            </a:r>
            <a:r>
              <a:rPr lang="en-US" sz="1200" dirty="0" err="1">
                <a:latin typeface="UT Sans" panose="00000500000000000000" pitchFamily="50" charset="0"/>
              </a:rPr>
              <a:t>până</a:t>
            </a:r>
            <a:r>
              <a:rPr lang="en-US" sz="1200" dirty="0">
                <a:latin typeface="UT Sans" panose="00000500000000000000" pitchFamily="50" charset="0"/>
              </a:rPr>
              <a:t> la program de </a:t>
            </a:r>
            <a:r>
              <a:rPr lang="en-US" sz="1200" dirty="0" err="1">
                <a:latin typeface="UT Sans" panose="00000500000000000000" pitchFamily="50" charset="0"/>
              </a:rPr>
              <a:t>retenție</a:t>
            </a:r>
            <a:r>
              <a:rPr lang="en-US" sz="1200" dirty="0">
                <a:latin typeface="UT Sans" panose="000005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49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3002-03F0-E1EE-B9A2-378D11F97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DE932CF-4E15-BCF8-7977-31C6FB82F3E7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41C896-6280-8825-BA26-24B1D00B9064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078C66-2AD1-AE9C-5C2E-9EAE71AE7760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40EC8CE-E7A5-93D1-DD9F-6A0B9FD255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DBD1B407-ABE2-A60E-FAE3-7A6A8D0FBCBF}"/>
              </a:ext>
            </a:extLst>
          </p:cNvPr>
          <p:cNvSpPr txBox="1"/>
          <p:nvPr/>
        </p:nvSpPr>
        <p:spPr>
          <a:xfrm>
            <a:off x="2699792" y="260648"/>
            <a:ext cx="6660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UT Sans" panose="00000500000000000000" pitchFamily="50" charset="0"/>
              </a:rPr>
              <a:t>Simulări</a:t>
            </a:r>
            <a:r>
              <a:rPr lang="en-US" sz="2800" b="1" dirty="0">
                <a:latin typeface="UT Sans" panose="00000500000000000000" pitchFamily="50" charset="0"/>
              </a:rPr>
              <a:t> What-If: Impact Training (</a:t>
            </a:r>
            <a:r>
              <a:rPr lang="en-US" sz="2800" b="1" dirty="0" err="1">
                <a:latin typeface="UT Sans" panose="00000500000000000000" pitchFamily="50" charset="0"/>
              </a:rPr>
              <a:t>Paginile</a:t>
            </a:r>
            <a:r>
              <a:rPr lang="en-US" sz="2800" b="1" dirty="0">
                <a:latin typeface="UT Sans" panose="00000500000000000000" pitchFamily="50" charset="0"/>
              </a:rPr>
              <a:t> 11 &amp; 12)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18FC0AC1-F48C-3A3A-4705-EA36E6029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4" y="1556792"/>
            <a:ext cx="4660132" cy="3564396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FF77DD40-2B9E-31DC-E610-A8C717E30A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556792"/>
            <a:ext cx="4297172" cy="3564396"/>
          </a:xfrm>
          <a:prstGeom prst="rect">
            <a:avLst/>
          </a:prstGeom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7BCBB00F-AA5E-F888-9587-DEC9F56E803A}"/>
              </a:ext>
            </a:extLst>
          </p:cNvPr>
          <p:cNvSpPr txBox="1"/>
          <p:nvPr/>
        </p:nvSpPr>
        <p:spPr>
          <a:xfrm>
            <a:off x="287524" y="5301208"/>
            <a:ext cx="42844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Managerul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ajustează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un slider (parametru DAX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creat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cu GENERATESERIES) care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simulează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ore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suplimentare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training. Un script Python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integrat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recalculează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timp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real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distribuția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angajaților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categorii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risc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afișează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grafic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schimbarea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procentuală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Implementează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tranziția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la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analiza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descriptivă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la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prescriptivă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  <a:p>
            <a:endParaRPr lang="en-US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33A35FF7-7C92-0D60-38F1-6D61D6C1A137}"/>
              </a:ext>
            </a:extLst>
          </p:cNvPr>
          <p:cNvSpPr txBox="1"/>
          <p:nvPr/>
        </p:nvSpPr>
        <p:spPr>
          <a:xfrm>
            <a:off x="4800720" y="5301207"/>
            <a:ext cx="428447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Simulare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DAX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pură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(SELECTEDVALUE +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măsuri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calculate) care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proiectează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câștigul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așteptat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urma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investiției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training. Un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grafic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bară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comparativ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Actual vs.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Proiectat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arată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delta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îmbunătățire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ajutând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managerii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să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prioritizeze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bugetele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formare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407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939D-53BE-4FB9-FC97-77DC7BAFE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BFE4C28-6301-0B9A-5E3E-2A35BD5991E4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82ECF14-59B9-2088-B049-1D4EA5EBF88B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788DB0-4594-F638-8C4E-67191D9A0181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696ACAA-6FA1-A2E3-7638-3C508A5C66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05AD0795-C355-E0C1-1FBD-1FAF372910AC}"/>
              </a:ext>
            </a:extLst>
          </p:cNvPr>
          <p:cNvSpPr txBox="1"/>
          <p:nvPr/>
        </p:nvSpPr>
        <p:spPr>
          <a:xfrm>
            <a:off x="2699792" y="260648"/>
            <a:ext cx="6660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UT Sans" panose="00000500000000000000" pitchFamily="50" charset="0"/>
              </a:rPr>
              <a:t>Pagina 13 – Analiza Performanței Individuale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17848BE9-6AF7-351E-0FDE-02E314298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654" y="1376772"/>
            <a:ext cx="6228692" cy="3745200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1B2A0AD7-FA20-26F7-892E-31A88FCB3D74}"/>
              </a:ext>
            </a:extLst>
          </p:cNvPr>
          <p:cNvSpPr txBox="1"/>
          <p:nvPr/>
        </p:nvSpPr>
        <p:spPr>
          <a:xfrm>
            <a:off x="1043608" y="5301208"/>
            <a:ext cx="727280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Pagina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permite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aprofundarea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analizei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la nivelul unui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singur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Un selector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funcționează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filtru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principal: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selectarea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unui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declanșează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două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vizualizări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Python generate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dinamic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Prima — un radar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competențe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grafic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polar matplotlib) —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afișează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4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indicatori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normalizați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efort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training,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vechime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) ai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angajatului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față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media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doua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— un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grafic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evoluție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lunară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performanței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individuale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Instrumentul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sprijină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decizii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personalizate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coaching,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formare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sau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retenție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913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44E3-59DD-51E8-DB76-7FB9FD1B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B8B2418-CB2F-EDF2-9A47-2799EC4749B1}"/>
              </a:ext>
            </a:extLst>
          </p:cNvPr>
          <p:cNvGrpSpPr/>
          <p:nvPr/>
        </p:nvGrpSpPr>
        <p:grpSpPr>
          <a:xfrm>
            <a:off x="8460432" y="6237312"/>
            <a:ext cx="216000" cy="216000"/>
            <a:chOff x="2772000" y="1932221"/>
            <a:chExt cx="2340000" cy="23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3A3E88-536E-E85C-A27C-23DB8FBAF360}"/>
                </a:ext>
              </a:extLst>
            </p:cNvPr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FBE4ED0-26E6-DD5C-C24E-AF1CF459E65E}"/>
                </a:ext>
              </a:extLst>
            </p:cNvPr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8832FD9-A3A6-5B51-4D01-8EC8ECB159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32656"/>
            <a:ext cx="1688792" cy="477750"/>
          </a:xfrm>
          <a:prstGeom prst="rect">
            <a:avLst/>
          </a:prstGeom>
        </p:spPr>
      </p:pic>
      <p:sp>
        <p:nvSpPr>
          <p:cNvPr id="3" name="CasetăText 2">
            <a:extLst>
              <a:ext uri="{FF2B5EF4-FFF2-40B4-BE49-F238E27FC236}">
                <a16:creationId xmlns:a16="http://schemas.microsoft.com/office/drawing/2014/main" id="{8D67E43D-4648-BBCF-5905-69C278870758}"/>
              </a:ext>
            </a:extLst>
          </p:cNvPr>
          <p:cNvSpPr txBox="1"/>
          <p:nvPr/>
        </p:nvSpPr>
        <p:spPr>
          <a:xfrm>
            <a:off x="2699792" y="260648"/>
            <a:ext cx="6660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latin typeface="UT Sans" panose="00000500000000000000" pitchFamily="50" charset="0"/>
              </a:rPr>
              <a:t>Rezumat Strategic &amp; Priorități HR (Paginile 14 &amp; 15)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E84EB2CE-9582-CE42-45DE-C884E14E8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98" y="1376772"/>
            <a:ext cx="4442202" cy="3636404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D0597F76-E07D-3D8B-37E7-CDAEABCD1F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962" y="1373806"/>
            <a:ext cx="4206240" cy="3636403"/>
          </a:xfrm>
          <a:prstGeom prst="rect">
            <a:avLst/>
          </a:prstGeom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3A8ED727-6C32-2231-DBA7-2851C6CCB70D}"/>
              </a:ext>
            </a:extLst>
          </p:cNvPr>
          <p:cNvSpPr txBox="1"/>
          <p:nvPr/>
        </p:nvSpPr>
        <p:spPr>
          <a:xfrm>
            <a:off x="287524" y="5301208"/>
            <a:ext cx="42844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Oferă o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vedere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executivă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completă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stării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organizației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pe un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singur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ecran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Conține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4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carduri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KPI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sintetice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actualizate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dinamic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un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grafic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dispersie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care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poziționează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fiecare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departament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după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efort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depus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performanță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obținută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Permite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managementului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vârf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să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evalueze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rapid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situația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fără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naviga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prin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toate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celelalte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pagini ale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sistemului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.</a:t>
            </a:r>
          </a:p>
          <a:p>
            <a:endParaRPr lang="en-US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4D5B7915-ABE1-3868-87F7-496621A53E1A}"/>
              </a:ext>
            </a:extLst>
          </p:cNvPr>
          <p:cNvSpPr txBox="1"/>
          <p:nvPr/>
        </p:nvSpPr>
        <p:spPr>
          <a:xfrm>
            <a:off x="4572000" y="5304873"/>
            <a:ext cx="42844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Nivelul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prescriptiv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al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sistemului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— cel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avansat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ierarhia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HR Analytics. Problemele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organizaționale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identificate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paginile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anterioare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sunt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ordonate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după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gradul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urgență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și impact, fiecare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însoțită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de o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recomandare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concretă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formare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redistribuire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intervenție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managerială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).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Răspunde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la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întrebarea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: «Ce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ar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trebui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să facem și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în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ce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UT Sans" panose="00000500000000000000" pitchFamily="50" charset="0"/>
              </a:rPr>
              <a:t>ordine</a:t>
            </a:r>
            <a:r>
              <a:rPr lang="en-US" sz="1200" dirty="0">
                <a:solidFill>
                  <a:srgbClr val="000000"/>
                </a:solidFill>
                <a:latin typeface="UT Sans" panose="00000500000000000000" pitchFamily="50" charset="0"/>
              </a:rPr>
              <a:t>?»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828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2934BE-F357-4C04-8A5D-D7F684477A06}">
  <we:reference id="wa200005566" version="3.0.0.2" store="ro-RO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1142</Words>
  <Application>Microsoft Office PowerPoint</Application>
  <PresentationFormat>Expunere pe ecran (4:3)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UT Sans</vt:lpstr>
      <vt:lpstr>UT Sans Bold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Miricescu Sonia</cp:lastModifiedBy>
  <cp:revision>23</cp:revision>
  <dcterms:created xsi:type="dcterms:W3CDTF">2017-10-19T09:49:50Z</dcterms:created>
  <dcterms:modified xsi:type="dcterms:W3CDTF">2026-07-19T10:01:54Z</dcterms:modified>
</cp:coreProperties>
</file>